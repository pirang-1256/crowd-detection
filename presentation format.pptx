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559675" cy="10691813"/>
  <p:embeddedFontLst>
    <p:embeddedFont>
      <p:font typeface="Canva Sans Bold"/>
    </p:embeddedFont>
    <p:embeddedFont>
      <p:font typeface="Bricolage Grotesque Bold"/>
    </p:embeddedFont>
    <p:embeddedFont>
      <p:font typeface="Hussar Bold"/>
      <p:bold r:id="rId15"/>
    </p:embeddedFont>
    <p:embeddedFont>
      <p:font typeface="Open Sans Bold"/>
    </p:embeddedFont>
    <p:embeddedFont>
      <p:font typeface="Bricolage Grotesque"/>
      <p:regular r:id="rId16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Hussar_Bold_Bold.fntdata"/><Relationship Id="rId16" Type="http://schemas.openxmlformats.org/officeDocument/2006/relationships/font" Target="fonts/Font_2_Bricolage_Grotesque_Regular.fntdata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4F8D2D-25EC-4970-9C47-D3208F7E8D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BBA6BA-F9DC-40B9-AF64-B9CBF4B51D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C5F87-1B94-4A73-9C6D-CD510E7B6A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4D5C1E-6311-4DE1-9D1B-B8AA09C6C8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F6D87-F0B8-4405-95F1-2B7F3CF6E7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C5B896-DE7D-458A-B752-BFE3C58933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648725-D2B2-4975-9B27-95D2D9599E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C9161-F3A3-44C6-B1D7-6911FD8C04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486B49-5240-4C4E-92CA-78D4BCAE28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A951BC-F365-43A0-A1F9-9901168E71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67325D-1AF2-4238-B469-25E20CE0B0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1028880" y="5343120"/>
            <a:ext cx="8216640" cy="1103400"/>
            <a:chOff x="1028880" y="5343120"/>
            <a:chExt cx="8216640" cy="1103400"/>
          </a:xfrm>
        </p:grpSpPr>
        <p:sp>
          <p:nvSpPr>
            <p:cNvPr id="62" name="Freeform 3"/>
            <p:cNvSpPr/>
            <p:nvPr/>
          </p:nvSpPr>
          <p:spPr>
            <a:xfrm>
              <a:off x="1028880" y="5523840"/>
              <a:ext cx="8216640" cy="922320"/>
            </a:xfrm>
            <a:custGeom>
              <a:avLst/>
              <a:gdLst>
                <a:gd name="textAreaLeft" fmla="*/ 0 w 8216640"/>
                <a:gd name="textAreaRight" fmla="*/ 8217000 w 8216640"/>
                <a:gd name="textAreaTop" fmla="*/ 0 h 922320"/>
                <a:gd name="textAreaBottom" fmla="*/ 922680 h 922320"/>
              </a:gdLst>
              <a:ahLst/>
              <a:cxnLst/>
              <a:rect l="textAreaLeft" t="textAreaTop" r="textAreaRight" b="textAreaBottom"/>
              <a:pathLst>
                <a:path w="2164165" h="243054">
                  <a:moveTo>
                    <a:pt x="94218" y="0"/>
                  </a:moveTo>
                  <a:lnTo>
                    <a:pt x="2069947" y="0"/>
                  </a:lnTo>
                  <a:cubicBezTo>
                    <a:pt x="2121982" y="0"/>
                    <a:pt x="2164165" y="42183"/>
                    <a:pt x="2164165" y="94218"/>
                  </a:cubicBezTo>
                  <a:lnTo>
                    <a:pt x="2164165" y="148836"/>
                  </a:lnTo>
                  <a:cubicBezTo>
                    <a:pt x="2164165" y="200871"/>
                    <a:pt x="2121982" y="243054"/>
                    <a:pt x="2069947" y="243054"/>
                  </a:cubicBezTo>
                  <a:lnTo>
                    <a:pt x="94218" y="243054"/>
                  </a:lnTo>
                  <a:cubicBezTo>
                    <a:pt x="42183" y="243054"/>
                    <a:pt x="0" y="200871"/>
                    <a:pt x="0" y="148836"/>
                  </a:cubicBezTo>
                  <a:lnTo>
                    <a:pt x="0" y="94218"/>
                  </a:lnTo>
                  <a:cubicBezTo>
                    <a:pt x="0" y="42183"/>
                    <a:pt x="42183" y="0"/>
                    <a:pt x="94218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Box 4"/>
            <p:cNvSpPr/>
            <p:nvPr/>
          </p:nvSpPr>
          <p:spPr>
            <a:xfrm>
              <a:off x="1028880" y="5343120"/>
              <a:ext cx="8216640" cy="110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11546640" y="1028880"/>
            <a:ext cx="5712480" cy="1418400"/>
            <a:chOff x="11546640" y="1028880"/>
            <a:chExt cx="5712480" cy="1418400"/>
          </a:xfrm>
        </p:grpSpPr>
        <p:sp>
          <p:nvSpPr>
            <p:cNvPr id="65" name="Freeform 6"/>
            <p:cNvSpPr/>
            <p:nvPr/>
          </p:nvSpPr>
          <p:spPr>
            <a:xfrm>
              <a:off x="11546640" y="1028880"/>
              <a:ext cx="1418400" cy="1418400"/>
            </a:xfrm>
            <a:custGeom>
              <a:avLst/>
              <a:gdLst>
                <a:gd name="textAreaLeft" fmla="*/ 0 w 1418400"/>
                <a:gd name="textAreaRight" fmla="*/ 1418760 w 1418400"/>
                <a:gd name="textAreaTop" fmla="*/ 0 h 1418400"/>
                <a:gd name="textAreaBottom" fmla="*/ 1418760 h 1418400"/>
              </a:gdLst>
              <a:ahLst/>
              <a:cxnLst/>
              <a:rect l="textAreaLeft" t="textAreaTop" r="textAreaRight" b="textAreaBottom"/>
              <a:pathLst>
                <a:path w="1891721" h="1891721">
                  <a:moveTo>
                    <a:pt x="0" y="0"/>
                  </a:moveTo>
                  <a:lnTo>
                    <a:pt x="1891721" y="0"/>
                  </a:lnTo>
                  <a:lnTo>
                    <a:pt x="1891721" y="1891721"/>
                  </a:lnTo>
                  <a:lnTo>
                    <a:pt x="0" y="189172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7"/>
            <p:cNvSpPr/>
            <p:nvPr/>
          </p:nvSpPr>
          <p:spPr>
            <a:xfrm>
              <a:off x="12965400" y="1287720"/>
              <a:ext cx="4293720" cy="39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3359"/>
                </a:lnSpc>
              </a:pPr>
              <a:r>
                <a:rPr lang="en-US" sz="2400" b="0" u="none" strike="noStrike">
                  <a:solidFill>
                    <a:srgbClr val="000000"/>
                  </a:solidFill>
                  <a:effectLst/>
                  <a:uFillTx/>
                  <a:latin typeface="Bricolage Grotesque"/>
                  <a:ea typeface="Bricolage Grotesque"/>
                </a:rPr>
                <a:t>SAHYADRI</a:t>
              </a:r>
              <a:endPara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8"/>
            <p:cNvSpPr/>
            <p:nvPr/>
          </p:nvSpPr>
          <p:spPr>
            <a:xfrm>
              <a:off x="12965400" y="1653120"/>
              <a:ext cx="4293720" cy="26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239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Bricolage Grotesque"/>
                  <a:ea typeface="Bricolage Grotesque"/>
                </a:rPr>
                <a:t>College of Engineering and Management</a:t>
              </a:r>
              <a:endParaRPr lang="en-IN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9"/>
            <p:cNvSpPr/>
            <p:nvPr/>
          </p:nvSpPr>
          <p:spPr>
            <a:xfrm>
              <a:off x="12965400" y="1888560"/>
              <a:ext cx="4293720" cy="26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239"/>
                </a:lnSpc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Bricolage Grotesque"/>
                  <a:ea typeface="Bricolage Grotesque"/>
                </a:rPr>
                <a:t>(An Autonomous Institute)</a:t>
              </a:r>
              <a:endParaRPr lang="en-IN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Freeform 10"/>
          <p:cNvSpPr/>
          <p:nvPr/>
        </p:nvSpPr>
        <p:spPr>
          <a:xfrm>
            <a:off x="1096560" y="1364400"/>
            <a:ext cx="3691080" cy="747000"/>
          </a:xfrm>
          <a:custGeom>
            <a:avLst/>
            <a:gdLst>
              <a:gd name="textAreaLeft" fmla="*/ 0 w 3691080"/>
              <a:gd name="textAreaRight" fmla="*/ 3691440 w 3691080"/>
              <a:gd name="textAreaTop" fmla="*/ 0 h 747000"/>
              <a:gd name="textAreaBottom" fmla="*/ 747360 h 747000"/>
            </a:gdLst>
            <a:ahLst/>
            <a:cxnLst/>
            <a:rect l="textAreaLeft" t="textAreaTop" r="textAreaRight" b="textAreaBottom"/>
            <a:pathLst>
              <a:path w="3691309" h="747490">
                <a:moveTo>
                  <a:pt x="0" y="0"/>
                </a:moveTo>
                <a:lnTo>
                  <a:pt x="3691309" y="0"/>
                </a:lnTo>
                <a:lnTo>
                  <a:pt x="3691309" y="747490"/>
                </a:lnTo>
                <a:lnTo>
                  <a:pt x="0" y="7474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Freeform 11"/>
          <p:cNvSpPr/>
          <p:nvPr/>
        </p:nvSpPr>
        <p:spPr>
          <a:xfrm>
            <a:off x="1028880" y="8694360"/>
            <a:ext cx="3140640" cy="563760"/>
          </a:xfrm>
          <a:custGeom>
            <a:avLst/>
            <a:gdLst>
              <a:gd name="textAreaLeft" fmla="*/ 0 w 3140640"/>
              <a:gd name="textAreaRight" fmla="*/ 3141000 w 3140640"/>
              <a:gd name="textAreaTop" fmla="*/ 0 h 563760"/>
              <a:gd name="textAreaBottom" fmla="*/ 564120 h 563760"/>
            </a:gdLst>
            <a:ahLst/>
            <a:cxnLst/>
            <a:rect l="textAreaLeft" t="textAreaTop" r="textAreaRight" b="textAreaBottom"/>
            <a:pathLst>
              <a:path w="3141018" h="564077">
                <a:moveTo>
                  <a:pt x="0" y="0"/>
                </a:moveTo>
                <a:lnTo>
                  <a:pt x="3141018" y="0"/>
                </a:lnTo>
                <a:lnTo>
                  <a:pt x="3141018" y="564077"/>
                </a:lnTo>
                <a:lnTo>
                  <a:pt x="0" y="5640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1096560" y="3656880"/>
            <a:ext cx="1156104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09"/>
              </a:lnSpc>
              <a:tabLst>
                <a:tab pos="0" algn="l"/>
              </a:tabLst>
            </a:pPr>
            <a:r>
              <a:rPr lang="en-US" sz="7100" b="1" u="none" strike="noStrik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SocioSpark Phase 2- 2026</a:t>
            </a:r>
            <a:endParaRPr lang="en-IN" sz="7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1364040" y="5645160"/>
            <a:ext cx="754560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040"/>
              </a:lnSpc>
            </a:pPr>
            <a:r>
              <a:rPr lang="en-US" sz="3600" b="1" u="none" strike="noStrike">
                <a:solidFill>
                  <a:srgbClr val="FFFFF7"/>
                </a:solidFill>
                <a:effectLst/>
                <a:uFillTx/>
                <a:latin typeface="Canva Sans Bold"/>
                <a:ea typeface="Canva Sans Bold"/>
              </a:rPr>
              <a:t>CrowdGuard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4"/>
          <p:cNvSpPr/>
          <p:nvPr/>
        </p:nvSpPr>
        <p:spPr>
          <a:xfrm>
            <a:off x="1028880" y="8204400"/>
            <a:ext cx="429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239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Bricolage Grotesque"/>
                <a:ea typeface="Bricolage Grotesque"/>
              </a:rPr>
              <a:t>Powered By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1364040" y="6350040"/>
            <a:ext cx="4999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Team: Innovators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2"/>
          <p:cNvSpPr/>
          <p:nvPr/>
        </p:nvSpPr>
        <p:spPr>
          <a:xfrm>
            <a:off x="1028880" y="1085760"/>
            <a:ext cx="53773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621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RESEARCH</a:t>
            </a:r>
            <a:endParaRPr lang="en-IN" sz="6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028880" y="3060000"/>
            <a:ext cx="429372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ricolage Grotesque"/>
                <a:ea typeface="Bricolage Grotesque"/>
              </a:rPr>
              <a:t>Dangerous overcrowding at Dussehra Jumbo Savari, Mysuru. 500,000+ spectators pack narrow streets with no automated crowd monitoring system.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4"/>
          <p:cNvGrpSpPr/>
          <p:nvPr/>
        </p:nvGrpSpPr>
        <p:grpSpPr>
          <a:xfrm>
            <a:off x="1028880" y="2131200"/>
            <a:ext cx="3317040" cy="948240"/>
            <a:chOff x="1028880" y="2131200"/>
            <a:chExt cx="3317040" cy="948240"/>
          </a:xfrm>
        </p:grpSpPr>
        <p:sp>
          <p:nvSpPr>
            <p:cNvPr id="78" name="Freeform 5"/>
            <p:cNvSpPr/>
            <p:nvPr/>
          </p:nvSpPr>
          <p:spPr>
            <a:xfrm>
              <a:off x="1028880" y="2333520"/>
              <a:ext cx="3317040" cy="745920"/>
            </a:xfrm>
            <a:custGeom>
              <a:avLst/>
              <a:gdLst>
                <a:gd name="textAreaLeft" fmla="*/ 0 w 3317040"/>
                <a:gd name="textAreaRight" fmla="*/ 3317400 w 3317040"/>
                <a:gd name="textAreaTop" fmla="*/ 0 h 745920"/>
                <a:gd name="textAreaBottom" fmla="*/ 746280 h 745920"/>
              </a:gdLst>
              <a:ahLst/>
              <a:cxnLst/>
              <a:rect l="textAreaLeft" t="textAreaTop" r="textAreaRight" b="textAreaBottom"/>
              <a:pathLst>
                <a:path w="781077" h="175695">
                  <a:moveTo>
                    <a:pt x="87847" y="0"/>
                  </a:moveTo>
                  <a:lnTo>
                    <a:pt x="693229" y="0"/>
                  </a:lnTo>
                  <a:cubicBezTo>
                    <a:pt x="741746" y="0"/>
                    <a:pt x="781077" y="39331"/>
                    <a:pt x="781077" y="87847"/>
                  </a:cubicBezTo>
                  <a:lnTo>
                    <a:pt x="781077" y="87847"/>
                  </a:lnTo>
                  <a:cubicBezTo>
                    <a:pt x="781077" y="111146"/>
                    <a:pt x="771821" y="133490"/>
                    <a:pt x="755347" y="149965"/>
                  </a:cubicBezTo>
                  <a:cubicBezTo>
                    <a:pt x="738872" y="166440"/>
                    <a:pt x="716528" y="175695"/>
                    <a:pt x="693229" y="175695"/>
                  </a:cubicBezTo>
                  <a:lnTo>
                    <a:pt x="87847" y="175695"/>
                  </a:lnTo>
                  <a:cubicBezTo>
                    <a:pt x="64549" y="175695"/>
                    <a:pt x="42205" y="166440"/>
                    <a:pt x="25730" y="149965"/>
                  </a:cubicBezTo>
                  <a:cubicBezTo>
                    <a:pt x="9255" y="133490"/>
                    <a:pt x="0" y="111146"/>
                    <a:pt x="0" y="87847"/>
                  </a:cubicBezTo>
                  <a:lnTo>
                    <a:pt x="0" y="87847"/>
                  </a:lnTo>
                  <a:cubicBezTo>
                    <a:pt x="0" y="64549"/>
                    <a:pt x="9255" y="42205"/>
                    <a:pt x="25730" y="25730"/>
                  </a:cubicBezTo>
                  <a:cubicBezTo>
                    <a:pt x="42205" y="9255"/>
                    <a:pt x="64549" y="0"/>
                    <a:pt x="87847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6"/>
            <p:cNvSpPr/>
            <p:nvPr/>
          </p:nvSpPr>
          <p:spPr>
            <a:xfrm>
              <a:off x="1028880" y="2131200"/>
              <a:ext cx="3317040" cy="94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0" name="TextBox 7"/>
          <p:cNvSpPr/>
          <p:nvPr/>
        </p:nvSpPr>
        <p:spPr>
          <a:xfrm>
            <a:off x="1122480" y="2491920"/>
            <a:ext cx="312984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Bricolage Grotesque Bold"/>
                <a:ea typeface="Bricolage Grotesque Bold"/>
              </a:rPr>
              <a:t>What is the Problem?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8486280" y="3079440"/>
            <a:ext cx="4293720" cy="15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Bricolage Grotesque"/>
              </a:rPr>
              <a:t>Every October during Jumbo Savari procession, Mysuru city streets. Also at Kumbh Mela, Ganesh Utsav, and stadiums across India.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9"/>
          <p:cNvGrpSpPr/>
          <p:nvPr/>
        </p:nvGrpSpPr>
        <p:grpSpPr>
          <a:xfrm>
            <a:off x="8255880" y="2131200"/>
            <a:ext cx="6091560" cy="948240"/>
            <a:chOff x="8255880" y="2131200"/>
            <a:chExt cx="6091560" cy="948240"/>
          </a:xfrm>
        </p:grpSpPr>
        <p:sp>
          <p:nvSpPr>
            <p:cNvPr id="83" name="Freeform 10"/>
            <p:cNvSpPr/>
            <p:nvPr/>
          </p:nvSpPr>
          <p:spPr>
            <a:xfrm>
              <a:off x="8255880" y="2333520"/>
              <a:ext cx="6091560" cy="745920"/>
            </a:xfrm>
            <a:custGeom>
              <a:avLst/>
              <a:gdLst>
                <a:gd name="textAreaLeft" fmla="*/ 0 w 6091560"/>
                <a:gd name="textAreaRight" fmla="*/ 6091920 w 6091560"/>
                <a:gd name="textAreaTop" fmla="*/ 0 h 745920"/>
                <a:gd name="textAreaBottom" fmla="*/ 746280 h 745920"/>
              </a:gdLst>
              <a:ahLst/>
              <a:cxnLst/>
              <a:rect l="textAreaLeft" t="textAreaTop" r="textAreaRight" b="textAreaBottom"/>
              <a:pathLst>
                <a:path w="1434295" h="175695">
                  <a:moveTo>
                    <a:pt x="87847" y="0"/>
                  </a:moveTo>
                  <a:lnTo>
                    <a:pt x="1346448" y="0"/>
                  </a:lnTo>
                  <a:cubicBezTo>
                    <a:pt x="1369746" y="0"/>
                    <a:pt x="1392091" y="9255"/>
                    <a:pt x="1408565" y="25730"/>
                  </a:cubicBezTo>
                  <a:cubicBezTo>
                    <a:pt x="1425040" y="42205"/>
                    <a:pt x="1434295" y="64549"/>
                    <a:pt x="1434295" y="87847"/>
                  </a:cubicBezTo>
                  <a:lnTo>
                    <a:pt x="1434295" y="87847"/>
                  </a:lnTo>
                  <a:cubicBezTo>
                    <a:pt x="1434295" y="111146"/>
                    <a:pt x="1425040" y="133490"/>
                    <a:pt x="1408565" y="149965"/>
                  </a:cubicBezTo>
                  <a:cubicBezTo>
                    <a:pt x="1392091" y="166440"/>
                    <a:pt x="1369746" y="175695"/>
                    <a:pt x="1346448" y="175695"/>
                  </a:cubicBezTo>
                  <a:lnTo>
                    <a:pt x="87847" y="175695"/>
                  </a:lnTo>
                  <a:cubicBezTo>
                    <a:pt x="64549" y="175695"/>
                    <a:pt x="42205" y="166440"/>
                    <a:pt x="25730" y="149965"/>
                  </a:cubicBezTo>
                  <a:cubicBezTo>
                    <a:pt x="9255" y="133490"/>
                    <a:pt x="0" y="111146"/>
                    <a:pt x="0" y="87847"/>
                  </a:cubicBezTo>
                  <a:lnTo>
                    <a:pt x="0" y="87847"/>
                  </a:lnTo>
                  <a:cubicBezTo>
                    <a:pt x="0" y="64549"/>
                    <a:pt x="9255" y="42205"/>
                    <a:pt x="25730" y="25730"/>
                  </a:cubicBezTo>
                  <a:cubicBezTo>
                    <a:pt x="42205" y="9255"/>
                    <a:pt x="64549" y="0"/>
                    <a:pt x="87847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11"/>
            <p:cNvSpPr/>
            <p:nvPr/>
          </p:nvSpPr>
          <p:spPr>
            <a:xfrm>
              <a:off x="8255880" y="2131200"/>
              <a:ext cx="6091560" cy="94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5" name="TextBox 12"/>
          <p:cNvSpPr/>
          <p:nvPr/>
        </p:nvSpPr>
        <p:spPr>
          <a:xfrm>
            <a:off x="8349480" y="2491920"/>
            <a:ext cx="599796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Bricolage Grotesque Bold"/>
                <a:ea typeface="Bricolage Grotesque Bold"/>
              </a:rPr>
              <a:t>When and where does the problem occur?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1002960" y="5347440"/>
            <a:ext cx="4293720" cy="19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Bricolage Grotesque"/>
              </a:rPr>
              <a:t>Crowd crush causes stampedes and mass casualties. 2016 Varanasi Dussehra stampede: 24 people killed. No real-time alert system exists at most events.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78"/>
              </a:lnSpc>
            </a:pP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Group 14"/>
          <p:cNvGrpSpPr/>
          <p:nvPr/>
        </p:nvGrpSpPr>
        <p:grpSpPr>
          <a:xfrm>
            <a:off x="1002960" y="4500000"/>
            <a:ext cx="3317040" cy="948240"/>
            <a:chOff x="1002960" y="4500000"/>
            <a:chExt cx="3317040" cy="948240"/>
          </a:xfrm>
        </p:grpSpPr>
        <p:sp>
          <p:nvSpPr>
            <p:cNvPr id="88" name="Freeform 15"/>
            <p:cNvSpPr/>
            <p:nvPr/>
          </p:nvSpPr>
          <p:spPr>
            <a:xfrm>
              <a:off x="1002960" y="4702320"/>
              <a:ext cx="3317040" cy="745920"/>
            </a:xfrm>
            <a:custGeom>
              <a:avLst/>
              <a:gdLst>
                <a:gd name="textAreaLeft" fmla="*/ 0 w 3317040"/>
                <a:gd name="textAreaRight" fmla="*/ 3317400 w 3317040"/>
                <a:gd name="textAreaTop" fmla="*/ 0 h 745920"/>
                <a:gd name="textAreaBottom" fmla="*/ 746280 h 745920"/>
              </a:gdLst>
              <a:ahLst/>
              <a:cxnLst/>
              <a:rect l="textAreaLeft" t="textAreaTop" r="textAreaRight" b="textAreaBottom"/>
              <a:pathLst>
                <a:path w="781077" h="175695">
                  <a:moveTo>
                    <a:pt x="87847" y="0"/>
                  </a:moveTo>
                  <a:lnTo>
                    <a:pt x="693229" y="0"/>
                  </a:lnTo>
                  <a:cubicBezTo>
                    <a:pt x="741746" y="0"/>
                    <a:pt x="781077" y="39331"/>
                    <a:pt x="781077" y="87847"/>
                  </a:cubicBezTo>
                  <a:lnTo>
                    <a:pt x="781077" y="87847"/>
                  </a:lnTo>
                  <a:cubicBezTo>
                    <a:pt x="781077" y="111146"/>
                    <a:pt x="771821" y="133490"/>
                    <a:pt x="755347" y="149965"/>
                  </a:cubicBezTo>
                  <a:cubicBezTo>
                    <a:pt x="738872" y="166440"/>
                    <a:pt x="716528" y="175695"/>
                    <a:pt x="693229" y="175695"/>
                  </a:cubicBezTo>
                  <a:lnTo>
                    <a:pt x="87847" y="175695"/>
                  </a:lnTo>
                  <a:cubicBezTo>
                    <a:pt x="64549" y="175695"/>
                    <a:pt x="42205" y="166440"/>
                    <a:pt x="25730" y="149965"/>
                  </a:cubicBezTo>
                  <a:cubicBezTo>
                    <a:pt x="9255" y="133490"/>
                    <a:pt x="0" y="111146"/>
                    <a:pt x="0" y="87847"/>
                  </a:cubicBezTo>
                  <a:lnTo>
                    <a:pt x="0" y="87847"/>
                  </a:lnTo>
                  <a:cubicBezTo>
                    <a:pt x="0" y="64549"/>
                    <a:pt x="9255" y="42205"/>
                    <a:pt x="25730" y="25730"/>
                  </a:cubicBezTo>
                  <a:cubicBezTo>
                    <a:pt x="42205" y="9255"/>
                    <a:pt x="64549" y="0"/>
                    <a:pt x="87847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16"/>
            <p:cNvSpPr/>
            <p:nvPr/>
          </p:nvSpPr>
          <p:spPr>
            <a:xfrm>
              <a:off x="1002960" y="4500000"/>
              <a:ext cx="3317040" cy="94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0" name="TextBox 17"/>
          <p:cNvSpPr/>
          <p:nvPr/>
        </p:nvSpPr>
        <p:spPr>
          <a:xfrm>
            <a:off x="1096920" y="4860000"/>
            <a:ext cx="31298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Bricolage Grotesque Bold"/>
                <a:ea typeface="Bricolage Grotesque Bold"/>
              </a:rPr>
              <a:t>Why is it a problem?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8"/>
          <p:cNvSpPr/>
          <p:nvPr/>
        </p:nvSpPr>
        <p:spPr>
          <a:xfrm>
            <a:off x="8460000" y="5378040"/>
            <a:ext cx="42937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Bricolage Grotesque"/>
              </a:rPr>
              <a:t>Manual police headcount, barricades, basic CCTV (no analytics), expensive commercial AI surveillance systems (Staqu, Videonetics).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19"/>
          <p:cNvGrpSpPr/>
          <p:nvPr/>
        </p:nvGrpSpPr>
        <p:grpSpPr>
          <a:xfrm>
            <a:off x="8255880" y="4462560"/>
            <a:ext cx="4772520" cy="948240"/>
            <a:chOff x="8255880" y="4462560"/>
            <a:chExt cx="4772520" cy="948240"/>
          </a:xfrm>
        </p:grpSpPr>
        <p:sp>
          <p:nvSpPr>
            <p:cNvPr id="93" name="Freeform 20"/>
            <p:cNvSpPr/>
            <p:nvPr/>
          </p:nvSpPr>
          <p:spPr>
            <a:xfrm>
              <a:off x="8255880" y="4664880"/>
              <a:ext cx="4772520" cy="745920"/>
            </a:xfrm>
            <a:custGeom>
              <a:avLst/>
              <a:gdLst>
                <a:gd name="textAreaLeft" fmla="*/ 0 w 4772520"/>
                <a:gd name="textAreaRight" fmla="*/ 4772880 w 4772520"/>
                <a:gd name="textAreaTop" fmla="*/ 0 h 745920"/>
                <a:gd name="textAreaBottom" fmla="*/ 746280 h 745920"/>
              </a:gdLst>
              <a:ahLst/>
              <a:cxnLst/>
              <a:rect l="textAreaLeft" t="textAreaTop" r="textAreaRight" b="textAreaBottom"/>
              <a:pathLst>
                <a:path w="1123676" h="175695">
                  <a:moveTo>
                    <a:pt x="87847" y="0"/>
                  </a:moveTo>
                  <a:lnTo>
                    <a:pt x="1035828" y="0"/>
                  </a:lnTo>
                  <a:cubicBezTo>
                    <a:pt x="1084345" y="0"/>
                    <a:pt x="1123676" y="39331"/>
                    <a:pt x="1123676" y="87847"/>
                  </a:cubicBezTo>
                  <a:lnTo>
                    <a:pt x="1123676" y="87847"/>
                  </a:lnTo>
                  <a:cubicBezTo>
                    <a:pt x="1123676" y="111146"/>
                    <a:pt x="1114420" y="133490"/>
                    <a:pt x="1097946" y="149965"/>
                  </a:cubicBezTo>
                  <a:cubicBezTo>
                    <a:pt x="1081471" y="166440"/>
                    <a:pt x="1059127" y="175695"/>
                    <a:pt x="1035828" y="175695"/>
                  </a:cubicBezTo>
                  <a:lnTo>
                    <a:pt x="87847" y="175695"/>
                  </a:lnTo>
                  <a:cubicBezTo>
                    <a:pt x="64549" y="175695"/>
                    <a:pt x="42205" y="166440"/>
                    <a:pt x="25730" y="149965"/>
                  </a:cubicBezTo>
                  <a:cubicBezTo>
                    <a:pt x="9255" y="133490"/>
                    <a:pt x="0" y="111146"/>
                    <a:pt x="0" y="87847"/>
                  </a:cubicBezTo>
                  <a:lnTo>
                    <a:pt x="0" y="87847"/>
                  </a:lnTo>
                  <a:cubicBezTo>
                    <a:pt x="0" y="64549"/>
                    <a:pt x="9255" y="42205"/>
                    <a:pt x="25730" y="25730"/>
                  </a:cubicBezTo>
                  <a:cubicBezTo>
                    <a:pt x="42205" y="9255"/>
                    <a:pt x="64549" y="0"/>
                    <a:pt x="87847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21"/>
            <p:cNvSpPr/>
            <p:nvPr/>
          </p:nvSpPr>
          <p:spPr>
            <a:xfrm>
              <a:off x="8255880" y="4462560"/>
              <a:ext cx="4772520" cy="94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5" name="TextBox 22"/>
          <p:cNvSpPr/>
          <p:nvPr/>
        </p:nvSpPr>
        <p:spPr>
          <a:xfrm>
            <a:off x="8349480" y="4823280"/>
            <a:ext cx="467892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Bricolage Grotesque Bold"/>
                <a:ea typeface="Bricolage Grotesque Bold"/>
              </a:rPr>
              <a:t>What are the existing solutions?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3"/>
          <p:cNvSpPr/>
          <p:nvPr/>
        </p:nvSpPr>
        <p:spPr>
          <a:xfrm>
            <a:off x="1080000" y="7718040"/>
            <a:ext cx="4293720" cy="11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Bricolage Grotesque"/>
              </a:rPr>
              <a:t>Police/security personnel, event organizers, municipal corporations, and the spectators themselves.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roup 24"/>
          <p:cNvGrpSpPr/>
          <p:nvPr/>
        </p:nvGrpSpPr>
        <p:grpSpPr>
          <a:xfrm>
            <a:off x="900000" y="6719040"/>
            <a:ext cx="4045680" cy="948240"/>
            <a:chOff x="900000" y="6719040"/>
            <a:chExt cx="4045680" cy="948240"/>
          </a:xfrm>
        </p:grpSpPr>
        <p:sp>
          <p:nvSpPr>
            <p:cNvPr id="98" name="Freeform 25"/>
            <p:cNvSpPr/>
            <p:nvPr/>
          </p:nvSpPr>
          <p:spPr>
            <a:xfrm>
              <a:off x="900000" y="6921360"/>
              <a:ext cx="4045680" cy="745920"/>
            </a:xfrm>
            <a:custGeom>
              <a:avLst/>
              <a:gdLst>
                <a:gd name="textAreaLeft" fmla="*/ 0 w 4045680"/>
                <a:gd name="textAreaRight" fmla="*/ 4046040 w 4045680"/>
                <a:gd name="textAreaTop" fmla="*/ 0 h 745920"/>
                <a:gd name="textAreaBottom" fmla="*/ 746280 h 745920"/>
              </a:gdLst>
              <a:ahLst/>
              <a:cxnLst/>
              <a:rect l="textAreaLeft" t="textAreaTop" r="textAreaRight" b="textAreaBottom"/>
              <a:pathLst>
                <a:path w="952610" h="175695">
                  <a:moveTo>
                    <a:pt x="87847" y="0"/>
                  </a:moveTo>
                  <a:lnTo>
                    <a:pt x="864762" y="0"/>
                  </a:lnTo>
                  <a:cubicBezTo>
                    <a:pt x="913279" y="0"/>
                    <a:pt x="952610" y="39331"/>
                    <a:pt x="952610" y="87847"/>
                  </a:cubicBezTo>
                  <a:lnTo>
                    <a:pt x="952610" y="87847"/>
                  </a:lnTo>
                  <a:cubicBezTo>
                    <a:pt x="952610" y="111146"/>
                    <a:pt x="943355" y="133490"/>
                    <a:pt x="926880" y="149965"/>
                  </a:cubicBezTo>
                  <a:cubicBezTo>
                    <a:pt x="910405" y="166440"/>
                    <a:pt x="888061" y="175695"/>
                    <a:pt x="864762" y="175695"/>
                  </a:cubicBezTo>
                  <a:lnTo>
                    <a:pt x="87847" y="175695"/>
                  </a:lnTo>
                  <a:cubicBezTo>
                    <a:pt x="64549" y="175695"/>
                    <a:pt x="42205" y="166440"/>
                    <a:pt x="25730" y="149965"/>
                  </a:cubicBezTo>
                  <a:cubicBezTo>
                    <a:pt x="9255" y="133490"/>
                    <a:pt x="0" y="111146"/>
                    <a:pt x="0" y="87847"/>
                  </a:cubicBezTo>
                  <a:lnTo>
                    <a:pt x="0" y="87847"/>
                  </a:lnTo>
                  <a:cubicBezTo>
                    <a:pt x="0" y="64549"/>
                    <a:pt x="9255" y="42205"/>
                    <a:pt x="25730" y="25730"/>
                  </a:cubicBezTo>
                  <a:cubicBezTo>
                    <a:pt x="42205" y="9255"/>
                    <a:pt x="64549" y="0"/>
                    <a:pt x="87847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TextBox 26"/>
            <p:cNvSpPr/>
            <p:nvPr/>
          </p:nvSpPr>
          <p:spPr>
            <a:xfrm>
              <a:off x="900000" y="6719040"/>
              <a:ext cx="4045680" cy="94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0" name="TextBox 27"/>
          <p:cNvSpPr/>
          <p:nvPr/>
        </p:nvSpPr>
        <p:spPr>
          <a:xfrm>
            <a:off x="993600" y="7012440"/>
            <a:ext cx="39520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Bricolage Grotesque Bold"/>
                <a:ea typeface="Bricolage Grotesque Bold"/>
              </a:rPr>
              <a:t>Who is facing the problem?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8"/>
          <p:cNvSpPr/>
          <p:nvPr/>
        </p:nvSpPr>
        <p:spPr>
          <a:xfrm>
            <a:off x="8398440" y="7571160"/>
            <a:ext cx="42937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Bricolage Grotesque"/>
              </a:rPr>
              <a:t>Manual counting too slow and inaccurate. Commercial AI too expensive. No offline solution. No automatic alert — reaction always comes after damage.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Group 29"/>
          <p:cNvGrpSpPr/>
          <p:nvPr/>
        </p:nvGrpSpPr>
        <p:grpSpPr>
          <a:xfrm>
            <a:off x="8280000" y="6660000"/>
            <a:ext cx="8257320" cy="948240"/>
            <a:chOff x="8280000" y="6660000"/>
            <a:chExt cx="8257320" cy="948240"/>
          </a:xfrm>
        </p:grpSpPr>
        <p:sp>
          <p:nvSpPr>
            <p:cNvPr id="103" name="Freeform 30"/>
            <p:cNvSpPr/>
            <p:nvPr/>
          </p:nvSpPr>
          <p:spPr>
            <a:xfrm>
              <a:off x="8280000" y="6862320"/>
              <a:ext cx="8257320" cy="745920"/>
            </a:xfrm>
            <a:custGeom>
              <a:avLst/>
              <a:gdLst>
                <a:gd name="textAreaLeft" fmla="*/ 0 w 8257320"/>
                <a:gd name="textAreaRight" fmla="*/ 8257680 w 8257320"/>
                <a:gd name="textAreaTop" fmla="*/ 0 h 745920"/>
                <a:gd name="textAreaBottom" fmla="*/ 746280 h 745920"/>
              </a:gdLst>
              <a:ahLst/>
              <a:cxnLst/>
              <a:rect l="textAreaLeft" t="textAreaTop" r="textAreaRight" b="textAreaBottom"/>
              <a:pathLst>
                <a:path w="1944182" h="175695">
                  <a:moveTo>
                    <a:pt x="87847" y="0"/>
                  </a:moveTo>
                  <a:lnTo>
                    <a:pt x="1856334" y="0"/>
                  </a:lnTo>
                  <a:cubicBezTo>
                    <a:pt x="1879633" y="0"/>
                    <a:pt x="1901977" y="9255"/>
                    <a:pt x="1918452" y="25730"/>
                  </a:cubicBezTo>
                  <a:cubicBezTo>
                    <a:pt x="1934926" y="42205"/>
                    <a:pt x="1944182" y="64549"/>
                    <a:pt x="1944182" y="87847"/>
                  </a:cubicBezTo>
                  <a:lnTo>
                    <a:pt x="1944182" y="87847"/>
                  </a:lnTo>
                  <a:cubicBezTo>
                    <a:pt x="1944182" y="111146"/>
                    <a:pt x="1934926" y="133490"/>
                    <a:pt x="1918452" y="149965"/>
                  </a:cubicBezTo>
                  <a:cubicBezTo>
                    <a:pt x="1901977" y="166440"/>
                    <a:pt x="1879633" y="175695"/>
                    <a:pt x="1856334" y="175695"/>
                  </a:cubicBezTo>
                  <a:lnTo>
                    <a:pt x="87847" y="175695"/>
                  </a:lnTo>
                  <a:cubicBezTo>
                    <a:pt x="64549" y="175695"/>
                    <a:pt x="42205" y="166440"/>
                    <a:pt x="25730" y="149965"/>
                  </a:cubicBezTo>
                  <a:cubicBezTo>
                    <a:pt x="9255" y="133490"/>
                    <a:pt x="0" y="111146"/>
                    <a:pt x="0" y="87847"/>
                  </a:cubicBezTo>
                  <a:lnTo>
                    <a:pt x="0" y="87847"/>
                  </a:lnTo>
                  <a:cubicBezTo>
                    <a:pt x="0" y="64549"/>
                    <a:pt x="9255" y="42205"/>
                    <a:pt x="25730" y="25730"/>
                  </a:cubicBezTo>
                  <a:cubicBezTo>
                    <a:pt x="42205" y="9255"/>
                    <a:pt x="64549" y="0"/>
                    <a:pt x="87847" y="0"/>
                  </a:cubicBezTo>
                  <a:close/>
                </a:path>
              </a:pathLst>
            </a:custGeom>
            <a:solidFill>
              <a:srgbClr val="D15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TextBox 31"/>
            <p:cNvSpPr/>
            <p:nvPr/>
          </p:nvSpPr>
          <p:spPr>
            <a:xfrm>
              <a:off x="8280000" y="6660000"/>
              <a:ext cx="8257320" cy="94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5" name="TextBox 32"/>
          <p:cNvSpPr/>
          <p:nvPr/>
        </p:nvSpPr>
        <p:spPr>
          <a:xfrm>
            <a:off x="8270640" y="6988680"/>
            <a:ext cx="792936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078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Bricolage Grotesque Bold"/>
                <a:ea typeface="Bricolage Grotesque Bold"/>
              </a:rPr>
              <a:t>What are users complaining about existing solutions?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3"/>
          <p:cNvSpPr/>
          <p:nvPr/>
        </p:nvSpPr>
        <p:spPr>
          <a:xfrm>
            <a:off x="1028880" y="8876160"/>
            <a:ext cx="897840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15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2"/>
          <p:cNvSpPr/>
          <p:nvPr/>
        </p:nvSpPr>
        <p:spPr>
          <a:xfrm>
            <a:off x="1028880" y="926280"/>
            <a:ext cx="8276760" cy="18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410"/>
              </a:lnSpc>
            </a:pPr>
            <a:r>
              <a:rPr lang="en-US" sz="6800" b="0" u="none" strike="noStrike">
                <a:solidFill>
                  <a:srgbClr val="FFFFF7"/>
                </a:solidFill>
                <a:effectLst/>
                <a:uFillTx/>
                <a:latin typeface="Hussar Bold"/>
                <a:ea typeface="Hussar Bold"/>
              </a:rPr>
              <a:t>PROBLEM STATEMENT</a:t>
            </a:r>
            <a:endParaRPr lang="en-IN" sz="6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3947040" y="4091400"/>
            <a:ext cx="10393200" cy="24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822"/>
              </a:lnSpc>
            </a:pPr>
            <a:endParaRPr lang="en-IN" sz="34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endParaRPr lang="en-IN" sz="34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endParaRPr lang="en-IN" sz="34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endParaRPr lang="en-IN" sz="34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1080000" y="3420000"/>
            <a:ext cx="1499976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4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 Might We detect crowd density and trigger automatic overcrowding alerts for security personnel and event organizers at Dussehra Jumbo Savari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4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 order to  prevent stampedes and save lives during large public gatherings?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/>
          <p:cNvSpPr/>
          <p:nvPr/>
        </p:nvSpPr>
        <p:spPr>
          <a:xfrm>
            <a:off x="823320" y="900000"/>
            <a:ext cx="1537668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SOLUTION PROPOSED LAST SEMESTER</a:t>
            </a:r>
            <a:endParaRPr lang="en-IN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1028880" y="2900880"/>
            <a:ext cx="8409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720000" y="2051640"/>
            <a:ext cx="15660000" cy="554508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BLE PROXIMITY WRISTBAND SYSTEM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Each participant was given a wristband containing a Bluetooth Low Energy (BLE) module.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wristbands continuously measured RSSI (signal strength) from nearby wristbands.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When multiple wristbands clustered within close range — indicating high crowd density —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system flagged overcrowding and sent an alert to a central monitoring station.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PROTOTYPE COMPONENTS: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Arduino Nano + HC-05 BLE module housed in a wristband casing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Central hub received aggregated proximity data from all wristbands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Alert triggered when density threshold (number of nearby devices) was crossed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LIMITATION DISCOVERED: Required distributing hardware to every participant.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Could not cover spectators (non-participants) who formed the majority of the crowd.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BLE range and battery life were unreliable in large outdoor environments.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2"/>
          <p:cNvSpPr/>
          <p:nvPr/>
        </p:nvSpPr>
        <p:spPr>
          <a:xfrm>
            <a:off x="1028880" y="1085760"/>
            <a:ext cx="15957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621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PRIMARY RESEARCH (USER TESTING)</a:t>
            </a:r>
            <a:endParaRPr lang="en-IN" sz="6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1028880" y="2060280"/>
            <a:ext cx="668376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1028880" y="1800000"/>
            <a:ext cx="16199640" cy="703908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FIELD VISIT FINDINGS — Kudroli Dussehra Commitee, Mangalore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Stakeholder 1 — Police Crowd Control Officer: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"By the time we realize a zone is overcrowded, it is already dangerous.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We need early warning, not reaction after the crush."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Stakeholder 2 — Dasara Committee Event Organizer: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"We cannot afford expensive CCTV analytics systems.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A low-cost solution that works without internet would be ideal."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Stakeholder 3 — Spectator/Devotee: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"Near the procession route it gets dangerously packed.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People push from behind and nobody knows how bad it is ahead."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OBSERVATIONS: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No real-time crowd density monitoring exists at the venue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Police rely entirely on visual estimation and radio communication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Response time between alert and action exceeds 10 minutes in dense zones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Narrow street layout makes evacuation extremely difficult once crush begins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/>
          <p:cNvSpPr/>
          <p:nvPr/>
        </p:nvSpPr>
        <p:spPr>
          <a:xfrm>
            <a:off x="1028880" y="1095480"/>
            <a:ext cx="1641924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435"/>
              </a:lnSpc>
            </a:pPr>
            <a:r>
              <a:rPr lang="en-US" sz="590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EMPATHY MAP / USER JOURNEY MAP</a:t>
            </a:r>
            <a:endParaRPr lang="en-IN" sz="5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028880" y="2082240"/>
            <a:ext cx="66837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1028880" y="1800000"/>
            <a:ext cx="16199640" cy="749952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EMPATHY MAP — Security Personnel at Jumbo Savari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THINKS:  "Which zone is getting too packed? I cannot see the whole crowd at once."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FEELS:   Overwhelmed, under-resourced, anxious about slow response time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SEES:    Thousands of people, narrow lanes, no real-time crowd data on screen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DOES:    Physically walks through crowd to assess density; communicates by radio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SAYS:    "We need alerts before it's too late, not after someone gets hurt"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USER JOURNEY MAP: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1. Spectators arrive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2. Enter narrow procession streets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3. Crowd density builds rapidly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4. No automated alert fires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5. Police notice crush too late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6. Stampede risk / injury occurs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PAIN POINTS: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No early warning system exists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Slow communication chain between officers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Cannot monitor multiple zones simultaneously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Manual headcount unreliable in moving crowds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2"/>
          <p:cNvSpPr/>
          <p:nvPr/>
        </p:nvSpPr>
        <p:spPr>
          <a:xfrm>
            <a:off x="1028880" y="1095480"/>
            <a:ext cx="1641924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435"/>
              </a:lnSpc>
            </a:pPr>
            <a:r>
              <a:rPr lang="en-US" sz="590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VALUE PROPOSITION CANVAS</a:t>
            </a:r>
            <a:endParaRPr lang="en-IN" sz="5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1028880" y="2082240"/>
            <a:ext cx="66837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028880" y="1800000"/>
            <a:ext cx="16199640" cy="749952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 PROPOSITION CANVAS — CrowdGuard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CUSTOMER PROFILE (Police / Event Organizer):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Jobs: Monitor crowd density, enforce safety limits, coordinate emergency response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Pains: No real-time data, manual counting errors, expensive existing tools, slow response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Gains: Proactive alerts before crush, accurate automated count, low cost, offline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 MAP (CrowdGuard):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Products/Services: Camera-based real-time crowd counter with instant threshold alert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Pain Relievers: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Automatic alarm fires the moment overcrowding threshold is reached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No manual counting or human monitoring required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Zero internet dependency — fully offline operation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Gain Creators: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Runs on any existing laptop — no new hardware purchase needed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Free open-source software (Python + OpenCV)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Deployable in under 5 minutes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CLAHE preprocessing handles harsh outdoor and night lighting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2"/>
          <p:cNvSpPr/>
          <p:nvPr/>
        </p:nvSpPr>
        <p:spPr>
          <a:xfrm>
            <a:off x="1028880" y="1085760"/>
            <a:ext cx="935928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621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OUR  ITERATED IDEA</a:t>
            </a:r>
            <a:endParaRPr lang="en-IN" sz="6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1028880" y="2126160"/>
            <a:ext cx="10563120" cy="7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1028880" y="1800000"/>
            <a:ext cx="16199640" cy="749952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WHY WE ITERATED: WRISTBAND  →  CAMERA SYSTEM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Drawbacks of Wristband (from stakeholder feedback):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X  Requires distributing hardware to every person — impossible for 500,000+ crowd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X  Spectators (non-participants) do not wear wristbands — misses most of the crowd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X  BLE infrastructure expensive and unreliable outdoors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X  Wristbands can be removed, lost, or worn incorrectly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X  High per-unit hardware cost not scalable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OUR ITERATED SOLUTION — CrowdGuard: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A laptop camera is positioned at a crowd zone. OpenCV HOG algorithm detects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and counts every visible person in real time. When count reaches or exceeds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the configured threshold, an immediate alert fires: red screen overlay + audio alarm.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HOW IT SOLVES THE DRAWBACKS: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V  No hardware distribution — uses existing cameras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V  Counts ALL visible people regardless of what they wear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V  No BLE or WiFi infrastructure needed — fully offline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V  Camera is fixed — cannot be removed or lost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V  Software is completely free (Python + OpenCV)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2"/>
          <p:cNvSpPr/>
          <p:nvPr/>
        </p:nvSpPr>
        <p:spPr>
          <a:xfrm>
            <a:off x="1028880" y="360000"/>
            <a:ext cx="57978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621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PROTOTYPE</a:t>
            </a:r>
            <a:endParaRPr lang="en-IN" sz="6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1028880" y="2192400"/>
            <a:ext cx="66837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11665080" y="7313760"/>
            <a:ext cx="5593680" cy="27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78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Bricolage Grotesque"/>
                <a:ea typeface="Bricolage Grotesque"/>
              </a:rPr>
              <a:t>1. Python 3.10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4840" lvl="1" indent="-237600" defTabSz="914400">
              <a:lnSpc>
                <a:spcPts val="3078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Bricolage Grotesque"/>
                <a:ea typeface="Bricolage Grotesque"/>
              </a:rPr>
              <a:t>2. OpenCV (cv2) — webcam capture + HOG detection + NMS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4840" lvl="1" indent="-237600" defTabSz="914400">
              <a:lnSpc>
                <a:spcPts val="3078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Bricolage Grotesque"/>
                <a:ea typeface="Bricolage Grotesque"/>
              </a:rPr>
              <a:t>3. NumPy — Non-Maximum Suppression computation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4840" lvl="1" indent="-237600" defTabSz="914400">
              <a:lnSpc>
                <a:spcPts val="3078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Bricolage Grotesque"/>
                <a:ea typeface="Bricolage Grotesque"/>
              </a:rPr>
              <a:t>4. VS Code — development environment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78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900000" y="1260000"/>
            <a:ext cx="16199640" cy="612252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PROTOTYPE DEMONSTRATION — CrowdGuard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LIVE CAMERA FEED VIEW: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App opens a window showing the live laptop webcam feed.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Green bounding box drawn around each detected person.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Current people count displayed top-left as "People: N".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Detection runs at 15-30 FPS using OpenCV HOG algorithm.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OVERCROWDING ALERT VIEW: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When count &gt;= configured threshold (set in config.json):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Screen border turns bright RED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Large "OVERCROWDED" text appears in center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Continuous audio beep alarm starts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Alert clears automatically when crowd drops below threshold.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CONFIGURATION: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Threshold is set in config.json — no coding required to change it.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Example: { "threshold": 5, "detect_every_n_frames": 3 }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/>
          <p:cNvSpPr/>
          <p:nvPr/>
        </p:nvSpPr>
        <p:spPr>
          <a:xfrm>
            <a:off x="1028880" y="360000"/>
            <a:ext cx="581112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621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PROTOTYPE</a:t>
            </a:r>
            <a:endParaRPr lang="en-IN" sz="6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1028880" y="2192400"/>
            <a:ext cx="66837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1028880" y="1800000"/>
            <a:ext cx="16199640" cy="630756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PROTOTYPE DEMO — Step-by-Step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 User runs:  python app.py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 Laptop camera opens — live video feed appears in window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 Person walks in front of camera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Green bounding box appears around them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Counter shows "People: 1" in top-left corner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 More people enter frame — count increases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 When count reaches threshold (e.g. 3 people):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Screen border turns RED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"OVERCROWDED" text appears in large red font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Continuous audio beep alarm starts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  People leave frame — count drops — alert clears automatically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7.  User presses Q — program exits cleanly, camera releases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Full working demo and source code available at: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github.com/PiRaNg-1256/Crowd-Detection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/>
          <p:nvPr/>
        </p:nvSpPr>
        <p:spPr>
          <a:xfrm>
            <a:off x="1028880" y="360000"/>
            <a:ext cx="1224108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761"/>
              </a:lnSpc>
            </a:pPr>
            <a:r>
              <a:rPr lang="en-US" sz="621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BUSINESS MODEL CANVAS</a:t>
            </a:r>
            <a:endParaRPr lang="en-IN" sz="6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028880" y="2170440"/>
            <a:ext cx="71024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1080360" y="1405800"/>
            <a:ext cx="16199640" cy="8134200"/>
          </a:xfrm>
          <a:prstGeom prst="rect">
            <a:avLst/>
          </a:prstGeom>
          <a:solidFill>
            <a:srgbClr val="F0F0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BUSINESS MODEL CANVAS — CrowdGuard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PARTNERS:        Municipal corporations, Police dept, Event management firms, Sahyadri College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ACTIVITIES:      Software deployment, training security staff, venue setup, maintenance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KEY RESOURCES:       Laptop + webcam (existing), Python/OpenCV (free), technical team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VALUE PROPOSITION:   Real-time overcrowding alerts, zero recurring cost, fully offline,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              deployable on any laptop in under 5 minutes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CUSTOMER SEGMENTS:   Municipal corporations (Mysuru, Mangaluru)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              Religious trusts and Dasara committee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                   Event management firms and stadium/mall operators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CHANNELS:            Government tenders, direct pitch to event organizers, college/NGO partnerships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CUSTOMER RELATIONS:  One-time setup + annual support contract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REVENUE STREAMS: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Per-event license:          Rs. 5,000 to Rs. 20,000 per event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Annual subscription:        Rs. 50,000 to Rs. 2,00,000 per year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Hardware + software bundle: Rs. 1,50,000 to Rs. 5,00,000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 Government Smart City bid:  Project-based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COST STRUCTURE:      Software development, deployment travel, support, optional cloud dashboard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SOCIAL IMPACT:       Lives saved at religious events across India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2"/>
          <p:cNvSpPr/>
          <p:nvPr/>
        </p:nvSpPr>
        <p:spPr>
          <a:xfrm>
            <a:off x="3101400" y="3480480"/>
            <a:ext cx="1208484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3428"/>
              </a:lnSpc>
            </a:pPr>
            <a:r>
              <a:rPr lang="en-US" sz="12550" b="0" u="none" strike="noStrike">
                <a:solidFill>
                  <a:srgbClr val="000000"/>
                </a:solidFill>
                <a:effectLst/>
                <a:uFillTx/>
                <a:latin typeface="Hussar Bold"/>
                <a:ea typeface="Hussar Bold"/>
              </a:rPr>
              <a:t>THANK YOU SO MUCH</a:t>
            </a:r>
            <a:endParaRPr lang="en-IN" sz="1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LibreOffice/26.2.0.3$Windows_X86_64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DAHLJ3Yk1JY</dc:identifier>
  <dc:language>en-IN</dc:language>
  <cp:lastModifiedBy/>
  <dcterms:modified xsi:type="dcterms:W3CDTF">2026-05-30T23:05:48Z</dcterms:modified>
  <cp:revision>10</cp:revision>
  <dc:subject/>
  <dc:title>Copy of Project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