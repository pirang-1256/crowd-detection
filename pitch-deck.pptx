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243761">
              <a:alpha val="60000"/>
            </a:srgbClr>
          </a:solidFill>
          <a:ln w="12700">
            <a:solidFill>
              <a:srgbClr val="243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365760"/>
            <a:ext cx="2011680" cy="2011680"/>
          </a:xfrm>
          <a:prstGeom prst="ellipse">
            <a:avLst/>
          </a:prstGeom>
          <a:solidFill>
            <a:srgbClr val="E8821A">
              <a:alpha val="30000"/>
            </a:srgbClr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709160"/>
            <a:ext cx="8979408" cy="54864"/>
          </a:xfrm>
          <a:prstGeom prst="rect">
            <a:avLst/>
          </a:prstGeom>
          <a:solidFill>
            <a:srgbClr val="E8821A">
              <a:alpha val="45000"/>
            </a:srgbClr>
          </a:solidFill>
          <a:ln w="12700">
            <a:solidFill>
              <a:srgbClr val="E8821A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CrowdGuard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Crowd Safety Monitoring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50292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906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Innovators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Dussehra Jumbo Savari  |  Safety Innovation Challenge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Dussehra Jumbo Savari — A Beautiful Celebration, A Real Danger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0604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into narrow streets annually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0604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07899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154680" y="17830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Deaths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2084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over the past 20 years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0604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078992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989320" y="17830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2084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religious events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578608"/>
            <a:ext cx="8503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headcounts are slow, inaccurate, and strain police resources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system alerts when a zone exceeds safe crowd capacity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at Dussehra Jumbo Savari rises rapidly — reaction time is critical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Varanasi Dussehra stampede: 24 lives lost due to bridge overcrowding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tech solutions require expensive hardware or cloud connectivity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3840480" cy="3840480"/>
          </a:xfrm>
          <a:prstGeom prst="ellipse">
            <a:avLst/>
          </a:prstGeom>
          <a:solidFill>
            <a:srgbClr val="243761">
              <a:alpha val="45000"/>
            </a:srgbClr>
          </a:solidFill>
          <a:ln w="12700">
            <a:solidFill>
              <a:srgbClr val="243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CrowdGuard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fully offline crowd monitoring system that detects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using a standard camera and instantly alerts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— no internet, no expensive hardware required.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005072"/>
            <a:ext cx="3566160" cy="54864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4005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Laptop or IP Camera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4-Step Detection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1965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19659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60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1572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" y="2103120"/>
            <a:ext cx="175564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or IP camera captures live video feed of the crowd area in real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39696" y="26334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821A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960120"/>
            <a:ext cx="1965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960120"/>
            <a:ext cx="19659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960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95728" y="1572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05456" y="2103120"/>
            <a:ext cx="175564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HOG algorithm scans every frame, drawing boxes around each detected person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34256" y="26334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821A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0288" y="960120"/>
            <a:ext cx="1965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0288" y="960120"/>
            <a:ext cx="19659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960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90288" y="1572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0016" y="2103120"/>
            <a:ext cx="175564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smoothing stabilises the count across frames, eliminating false readings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28816" y="26334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821A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84848" y="960120"/>
            <a:ext cx="1965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960120"/>
            <a:ext cx="19659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960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84848" y="157276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94576" y="2103120"/>
            <a:ext cx="175564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count reaches threshold: red screen overlay + continuous audio alarm fires instantly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Real-World Outdoor Conditions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82296" cy="182880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97280"/>
            <a:ext cx="502920" cy="502920"/>
          </a:xfrm>
          <a:prstGeom prst="ellipse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Camera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8105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laptop webcam or IP camera. No special hardware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914400"/>
            <a:ext cx="82296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09728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00984" y="18105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video at 15-30 FPS. Alerts within 1 second of threshold crossing.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6752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16752" y="914400"/>
            <a:ext cx="82296" cy="182880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097280"/>
            <a:ext cx="502920" cy="502920"/>
          </a:xfrm>
          <a:prstGeom prst="ellipse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Alert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18105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red-border overlay AND continuous audio alarm for immediate attention.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26080"/>
            <a:ext cx="82296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10896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connection needed. Works in remote venues with no network.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36392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36392" y="2926080"/>
            <a:ext cx="82296" cy="182880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9272" y="3108960"/>
            <a:ext cx="502920" cy="502920"/>
          </a:xfrm>
          <a:prstGeom prst="ellipse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00984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crowd limit per zone. Change without touching code - just edit config.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16752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16752" y="2926080"/>
            <a:ext cx="82296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310896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Optimised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81344" y="3822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preprocessing handles glare, shadows, and harsh outdoor lighting.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CrowdGuard vs Manual Monitoring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5603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914400"/>
            <a:ext cx="28346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914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914400"/>
            <a:ext cx="2834640" cy="475488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914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CrowdGuard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426464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42646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426464"/>
            <a:ext cx="283464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26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Speed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1426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Minutes (manual count)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4264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 1 second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1956816"/>
            <a:ext cx="256032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1956816"/>
            <a:ext cx="283464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956816"/>
            <a:ext cx="283464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56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54680" y="1956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Prone to human error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956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NMS + smoothing = stable count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487168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63240" y="2487168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487168"/>
            <a:ext cx="283464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487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5468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Many staff required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laptop + free software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256032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63240" y="3017520"/>
            <a:ext cx="283464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017520"/>
            <a:ext cx="283464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Mechanism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546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Verbal or radio only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 visual + audio alarm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54787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63240" y="3547872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3547872"/>
            <a:ext cx="283464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5478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Required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54680" y="3547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72200" y="3547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— fully offline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078224"/>
            <a:ext cx="256032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63240" y="4078224"/>
            <a:ext cx="2834640" cy="502920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4078224"/>
            <a:ext cx="283464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0782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154680" y="40782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More staff per zone needed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40782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2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camera per zone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Economic &amp; Scale Impact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26974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144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48716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stampedes and crowd crush fatalities at religious events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 through real-time overcrowding alerts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experience for lakhs of Dussehra Jumbo Savari devotees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public trust in event safety management systems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36392" y="91440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914400"/>
            <a:ext cx="2697480" cy="566928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9144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48716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recurring cost — fully open-source software stack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expensive proprietary CCTV analytics platforms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legal liability and compensation costs for organizers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crores in rescue, recovery, and medical response costs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16752" y="914400"/>
            <a:ext cx="269748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6752" y="914400"/>
            <a:ext cx="2697480" cy="5669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9144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554480"/>
            <a:ext cx="248716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temples, religious fairs, stadiums, and malls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zone support planned for Phase 2 rollout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across all major Indian festivals and public events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model for global religious crowd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CrowdGuard and How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3931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81328"/>
            <a:ext cx="73152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361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Corporations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8470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major public events and processions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3931920" cy="713232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04288"/>
            <a:ext cx="73152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3591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Trusts &amp; Temples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6700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Kumbh Mela, Dussehra, Ganesh Utsav, Rath Yatra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3931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27248"/>
            <a:ext cx="73152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1821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Firms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4930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Concerts, trade fairs, and sports events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50208"/>
            <a:ext cx="3931920" cy="713232"/>
          </a:xfrm>
          <a:prstGeom prst="rect">
            <a:avLst/>
          </a:prstGeom>
          <a:solidFill>
            <a:srgbClr val="EFF2F7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50208"/>
            <a:ext cx="73152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0050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Malls &amp; Stadiums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4315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crowd monitoring infrastructure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960120"/>
            <a:ext cx="4297680" cy="45720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960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481328"/>
            <a:ext cx="4297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481328"/>
            <a:ext cx="73152" cy="71323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License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18304" y="15270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– ₹20,000/event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8304" y="186537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deployment fee per event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2304288"/>
            <a:ext cx="4297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304288"/>
            <a:ext cx="73152" cy="71323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350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SaaS Subscription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18304" y="2350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– ₹2L/year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18304" y="26883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events, cloud dashboard, updates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3127248"/>
            <a:ext cx="4297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127248"/>
            <a:ext cx="73152" cy="71323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 Bundle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18304" y="3172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 – ₹5L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18304" y="35112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Preconfigured device with 3-year support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950208"/>
            <a:ext cx="4297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3950208"/>
            <a:ext cx="73152" cy="713232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Tender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18304" y="39959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18304" y="43342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and Kumbh Mela integration bids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City-Wide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395728"/>
            <a:ext cx="7680960" cy="0"/>
          </a:xfrm>
          <a:prstGeom prst="line">
            <a:avLst/>
          </a:prstGeom>
          <a:noFill/>
          <a:ln w="38100">
            <a:solidFill>
              <a:srgbClr val="E88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875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3 Months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389888"/>
            <a:ext cx="0" cy="804672"/>
          </a:xfrm>
          <a:prstGeom prst="line">
            <a:avLst/>
          </a:prstGeom>
          <a:noFill/>
          <a:ln w="12700">
            <a:solidFill>
              <a:srgbClr val="E8821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36192" y="2194560"/>
            <a:ext cx="402336" cy="402336"/>
          </a:xfrm>
          <a:prstGeom prst="ellipse">
            <a:avLst/>
          </a:prstGeom>
          <a:solidFill>
            <a:srgbClr val="E882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788920"/>
            <a:ext cx="257860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788920"/>
            <a:ext cx="2578608" cy="50292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7889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3337560"/>
            <a:ext cx="23957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Single-camera deployment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detection + NMS alerts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zone threshold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local Dussehra event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9875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Months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53712" y="1389888"/>
            <a:ext cx="0" cy="804672"/>
          </a:xfrm>
          <a:prstGeom prst="line">
            <a:avLst/>
          </a:prstGeom>
          <a:noFill/>
          <a:ln w="12700">
            <a:solidFill>
              <a:srgbClr val="1B2A4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352544" y="2194560"/>
            <a:ext cx="402336" cy="402336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788920"/>
            <a:ext cx="257860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788920"/>
            <a:ext cx="2578608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7889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3337560"/>
            <a:ext cx="23957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zone monitoring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police officers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alert integration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08192" y="9875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18 Months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70064" y="1389888"/>
            <a:ext cx="0" cy="804672"/>
          </a:xfrm>
          <a:prstGeom prst="line">
            <a:avLst/>
          </a:prstGeom>
          <a:noFill/>
          <a:ln w="12700">
            <a:solidFill>
              <a:srgbClr val="1B6CA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168896" y="2194560"/>
            <a:ext cx="402336" cy="402336"/>
          </a:xfrm>
          <a:prstGeom prst="ellipse">
            <a:avLst/>
          </a:prstGeom>
          <a:solidFill>
            <a:srgbClr val="1B6C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8192" y="2788920"/>
            <a:ext cx="257860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2788920"/>
            <a:ext cx="2578608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27889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39572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upgrade (YOLO option)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control room integration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crowd flow analysis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government rollout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4114800" cy="4114800"/>
          </a:xfrm>
          <a:prstGeom prst="ellipse">
            <a:avLst/>
          </a:prstGeom>
          <a:solidFill>
            <a:srgbClr val="243761">
              <a:alpha val="40000"/>
            </a:srgbClr>
          </a:solidFill>
          <a:ln w="12700">
            <a:solidFill>
              <a:srgbClr val="243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2926080" cy="2926080"/>
          </a:xfrm>
          <a:prstGeom prst="ellipse">
            <a:avLst/>
          </a:prstGeom>
          <a:solidFill>
            <a:srgbClr val="E8821A">
              <a:alpha val="22000"/>
            </a:srgbClr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66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Innovators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114800" cy="0"/>
          </a:xfrm>
          <a:prstGeom prst="line">
            <a:avLst/>
          </a:prstGeom>
          <a:noFill/>
          <a:ln w="25400">
            <a:solidFill>
              <a:srgbClr val="E88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67712"/>
            <a:ext cx="5760720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about using technology to solve real public safety challenges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CrowdGuard end-to-end — from concept to a working prototype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in computer vision, Python, and real-world event deployment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mission of zero preventable crowd fatalities in India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43761">
              <a:alpha val="48000"/>
            </a:srgbClr>
          </a:solidFill>
          <a:ln w="12700">
            <a:solidFill>
              <a:srgbClr val="243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243761">
              <a:alpha val="48000"/>
            </a:srgbClr>
          </a:solidFill>
          <a:ln w="12700">
            <a:solidFill>
              <a:srgbClr val="243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821A"/>
          </a:solidFill>
          <a:ln w="12700">
            <a:solidFill>
              <a:srgbClr val="E88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029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Make Every Crowd Event Safer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786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22192" y="2816352"/>
            <a:ext cx="0" cy="201168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257860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Dussehra Jumbo Savari crowd safety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22192" y="3438144"/>
            <a:ext cx="0" cy="201168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32004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CrowdGuard — real-time camera alert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8221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22192" y="4059936"/>
            <a:ext cx="0" cy="201168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382219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ready to pilot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Innovators  •  CrowdGuard  •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CrowdGuard - Crowd Safety Monitoring</dc:title>
  <dc:subject>PptxGenJS Presentation</dc:subject>
  <dc:creator>Team Innovators</dc:creator>
  <cp:lastModifiedBy>Team Innovators</cp:lastModifiedBy>
  <cp:revision>1</cp:revision>
  <dcterms:created xsi:type="dcterms:W3CDTF">2026-05-30T15:20:21Z</dcterms:created>
  <dcterms:modified xsi:type="dcterms:W3CDTF">2026-05-30T15:20:21Z</dcterms:modified>
</cp:coreProperties>
</file>